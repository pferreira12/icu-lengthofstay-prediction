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C2F3EA-7A11-4C28-89B1-217656AE653B}">
  <a:tblStyle styleId="{E1C2F3EA-7A11-4C28-89B1-217656AE65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be15818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be15818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5be15818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5be15818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5be15818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5be15818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be15818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be15818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be15818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be15818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be15818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be15818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5be15818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5be15818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5c8dc62b4_3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5c8dc62b4_3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5c8dc62b4_3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5c8dc62b4_3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5000"/>
              <a:t>Intensive Care Unit</a:t>
            </a:r>
            <a:endParaRPr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5000"/>
              <a:t>Length</a:t>
            </a:r>
            <a:r>
              <a:rPr lang="pt-PT" sz="5000"/>
              <a:t> of Stay Prediction</a:t>
            </a:r>
            <a:endParaRPr sz="5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86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200">
                <a:solidFill>
                  <a:schemeClr val="dk1"/>
                </a:solidFill>
                <a:highlight>
                  <a:srgbClr val="FFFFFF"/>
                </a:highlight>
              </a:rPr>
              <a:t>FCUP | L. IACD | Large-Scale Data Science | 2025/26</a:t>
            </a:r>
            <a:r>
              <a:rPr lang="pt-PT" sz="7200">
                <a:solidFill>
                  <a:schemeClr val="dk1"/>
                </a:solidFill>
              </a:rPr>
              <a:t> </a:t>
            </a:r>
            <a:endParaRPr sz="7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300"/>
              <a:t>Catarina Fernandes up202307632 | Leonor Baía up202304808 | Pedro Ferreira 202208344</a:t>
            </a:r>
            <a:endParaRPr sz="4300"/>
          </a:p>
        </p:txBody>
      </p:sp>
      <p:sp>
        <p:nvSpPr>
          <p:cNvPr id="56" name="Google Shape;56;p13"/>
          <p:cNvSpPr/>
          <p:nvPr/>
        </p:nvSpPr>
        <p:spPr>
          <a:xfrm>
            <a:off x="8169850" y="3914475"/>
            <a:ext cx="2205900" cy="18495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4A66A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 rot="9397341">
            <a:off x="-1178408" y="-422938"/>
            <a:ext cx="2533583" cy="2052251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4A66A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PT" sz="3020"/>
              <a:t>Project Overview</a:t>
            </a:r>
            <a:endParaRPr sz="3020"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19408" l="0" r="0" t="18185"/>
          <a:stretch/>
        </p:blipFill>
        <p:spPr>
          <a:xfrm>
            <a:off x="1038550" y="1392173"/>
            <a:ext cx="7232072" cy="107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17814" l="0" r="0" t="17666"/>
          <a:stretch/>
        </p:blipFill>
        <p:spPr>
          <a:xfrm>
            <a:off x="1038550" y="2648790"/>
            <a:ext cx="7232074" cy="111117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237600" y="4245325"/>
            <a:ext cx="87540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/>
              <a:t>LOS Prediction	|	First 24 hours only	|	Leakage-safe Pipeline</a:t>
            </a:r>
            <a:endParaRPr sz="1800"/>
          </a:p>
        </p:txBody>
      </p:sp>
      <p:sp>
        <p:nvSpPr>
          <p:cNvPr id="66" name="Google Shape;66;p14"/>
          <p:cNvSpPr txBox="1"/>
          <p:nvPr/>
        </p:nvSpPr>
        <p:spPr>
          <a:xfrm>
            <a:off x="6301275" y="3709450"/>
            <a:ext cx="1969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pt-PT" sz="1100">
                <a:solidFill>
                  <a:schemeClr val="dk2"/>
                </a:solidFill>
              </a:rPr>
              <a:t>Visual Project Pipeline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764575" y="1948200"/>
            <a:ext cx="1194300" cy="453900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rgbClr val="F3F3F3"/>
                </a:solidFill>
              </a:rPr>
              <a:t>Large-Scale ICU Data</a:t>
            </a:r>
            <a:endParaRPr sz="13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/>
              <a:t>Large-Scale </a:t>
            </a:r>
            <a:r>
              <a:rPr lang="pt-PT" sz="3000"/>
              <a:t>Data Processing</a:t>
            </a:r>
            <a:endParaRPr sz="3000"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525" y="1435200"/>
            <a:ext cx="1899200" cy="251294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237600" y="4245325"/>
            <a:ext cx="87540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/>
              <a:t>330M+ Raw Events	</a:t>
            </a:r>
            <a:r>
              <a:rPr lang="pt-PT" sz="1800"/>
              <a:t>|</a:t>
            </a:r>
            <a:r>
              <a:rPr lang="pt-PT" sz="1800"/>
              <a:t>	24h Observation Window	 | 	Feature Aggregation</a:t>
            </a:r>
            <a:endParaRPr sz="1800"/>
          </a:p>
        </p:txBody>
      </p:sp>
      <p:graphicFrame>
        <p:nvGraphicFramePr>
          <p:cNvPr id="75" name="Google Shape;75;p15"/>
          <p:cNvGraphicFramePr/>
          <p:nvPr/>
        </p:nvGraphicFramePr>
        <p:xfrm>
          <a:off x="2974100" y="152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{E1C2F3EA-7A11-4C28-89B1-217656AE653B}</a:tableStyleId>
              </a:tblPr>
              <a:tblGrid>
                <a:gridCol w="1421325"/>
                <a:gridCol w="1853725"/>
                <a:gridCol w="2742450"/>
              </a:tblGrid>
              <a:tr h="41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>
                          <a:solidFill>
                            <a:schemeClr val="lt1"/>
                          </a:solidFill>
                        </a:rPr>
                        <a:t>EXPERIMENT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66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>
                          <a:solidFill>
                            <a:schemeClr val="lt1"/>
                          </a:solidFill>
                        </a:rPr>
                        <a:t>CONFIGURATION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66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>
                          <a:solidFill>
                            <a:schemeClr val="lt1"/>
                          </a:solidFill>
                        </a:rPr>
                        <a:t>TABLES INCLUDED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66AC"/>
                    </a:solidFill>
                  </a:tcPr>
                </a:tc>
              </a:tr>
              <a:tr h="57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5-Table Baseline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>
                          <a:solidFill>
                            <a:schemeClr val="dk1"/>
                          </a:solidFill>
                        </a:rPr>
                        <a:t>ICUSTAYS, PATIENTS, ADMISSIONS, CHARTEVENTS, D_ITEMS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41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7-Table Dataset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>
                          <a:solidFill>
                            <a:schemeClr val="dk1"/>
                          </a:solidFill>
                        </a:rPr>
                        <a:t>5-Table Baseline + LABEVENTS, D_LABITEMS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57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9-Table Dataset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>
                          <a:solidFill>
                            <a:schemeClr val="dk1"/>
                          </a:solidFill>
                        </a:rPr>
                        <a:t>7-Table Dataset + OUTPUTEVENTS, PRESCRIPTIONS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76" name="Google Shape;76;p15"/>
          <p:cNvSpPr txBox="1"/>
          <p:nvPr/>
        </p:nvSpPr>
        <p:spPr>
          <a:xfrm>
            <a:off x="6467400" y="3622775"/>
            <a:ext cx="25242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PT" sz="1100">
                <a:solidFill>
                  <a:schemeClr val="dk2"/>
                </a:solidFill>
              </a:rPr>
              <a:t>Experimental Dataset Configurations</a:t>
            </a:r>
            <a:endParaRPr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 rot="-5400000">
            <a:off x="-754475" y="2625150"/>
            <a:ext cx="2192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PT" sz="1100">
                <a:solidFill>
                  <a:schemeClr val="dk2"/>
                </a:solidFill>
              </a:rPr>
              <a:t>Data Processing Architecture</a:t>
            </a:r>
            <a:endParaRPr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PT" sz="3020"/>
              <a:t>Feature Engineering</a:t>
            </a:r>
            <a:endParaRPr sz="3020"/>
          </a:p>
        </p:txBody>
      </p:sp>
      <p:graphicFrame>
        <p:nvGraphicFramePr>
          <p:cNvPr id="83" name="Google Shape;83;p16"/>
          <p:cNvGraphicFramePr/>
          <p:nvPr/>
        </p:nvGraphicFramePr>
        <p:xfrm>
          <a:off x="952500" y="27397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{E1C2F3EA-7A11-4C28-89B1-217656AE653B}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>
                          <a:solidFill>
                            <a:schemeClr val="lt1"/>
                          </a:solidFill>
                        </a:rPr>
                        <a:t>STATISTICAL AGGREGATIONS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66AC"/>
                    </a:solidFill>
                  </a:tcPr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Mean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Max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Min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Std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Last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Google Shape;84;p16"/>
          <p:cNvGraphicFramePr/>
          <p:nvPr/>
        </p:nvGraphicFramePr>
        <p:xfrm>
          <a:off x="952500" y="38768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{E1C2F3EA-7A11-4C28-89B1-217656AE653B}</a:tableStyleId>
              </a:tblPr>
              <a:tblGrid>
                <a:gridCol w="2413000"/>
                <a:gridCol w="2413000"/>
                <a:gridCol w="24130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>
                          <a:solidFill>
                            <a:schemeClr val="lt1"/>
                          </a:solidFill>
                        </a:rPr>
                        <a:t>CONTEXTUAL FEATURES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66AC"/>
                    </a:solidFill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Demographics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Admission Data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Care Unit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Google Shape;85;p16"/>
          <p:cNvGraphicFramePr/>
          <p:nvPr/>
        </p:nvGraphicFramePr>
        <p:xfrm>
          <a:off x="952500" y="138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{E1C2F3EA-7A11-4C28-89B1-217656AE653B}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1000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>
                          <a:solidFill>
                            <a:schemeClr val="lt1"/>
                          </a:solidFill>
                        </a:rPr>
                        <a:t>EXCLUDED DATA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66AC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ICU Discharge Information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Hospital Discharge Information 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Mortality Information 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Post-Discharge Information 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/>
              <a:t>Data Preparation and Training</a:t>
            </a:r>
            <a:endParaRPr sz="3000"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01" y="1098875"/>
            <a:ext cx="2136600" cy="3820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" name="Google Shape;92;p17"/>
          <p:cNvGraphicFramePr/>
          <p:nvPr/>
        </p:nvGraphicFramePr>
        <p:xfrm>
          <a:off x="6168625" y="109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{E1C2F3EA-7A11-4C28-89B1-217656AE653B}</a:tableStyleId>
              </a:tblPr>
              <a:tblGrid>
                <a:gridCol w="230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>
                          <a:solidFill>
                            <a:schemeClr val="lt1"/>
                          </a:solidFill>
                        </a:rPr>
                        <a:t>BASELINE</a:t>
                      </a:r>
                      <a:r>
                        <a:rPr b="1" lang="pt-PT">
                          <a:solidFill>
                            <a:schemeClr val="lt1"/>
                          </a:solidFill>
                        </a:rPr>
                        <a:t> MODELS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100">
                          <a:solidFill>
                            <a:schemeClr val="lt1"/>
                          </a:solidFill>
                        </a:rPr>
                        <a:t>SCIKIT-LEARN FRAMEWORK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66A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Dummy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Ridge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Random Forest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Hist Gradient Boosting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/>
              <a:t>Hyperparameter Optimization</a:t>
            </a:r>
            <a:endParaRPr sz="3000"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6725" y="206273"/>
            <a:ext cx="2873725" cy="42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/>
              <a:t>Results of Experiments</a:t>
            </a:r>
            <a:endParaRPr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/>
              <a:t>Visual Comparison Summary</a:t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PT" sz="3020"/>
              <a:t>Conclusion</a:t>
            </a:r>
            <a:endParaRPr sz="3020"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5000"/>
              <a:t>Intensive Care Unit</a:t>
            </a:r>
            <a:endParaRPr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5000"/>
              <a:t>Length of Stay Prediction</a:t>
            </a:r>
            <a:endParaRPr sz="5000"/>
          </a:p>
        </p:txBody>
      </p:sp>
      <p:sp>
        <p:nvSpPr>
          <p:cNvPr id="120" name="Google Shape;120;p22"/>
          <p:cNvSpPr txBox="1"/>
          <p:nvPr>
            <p:ph idx="1" type="subTitle"/>
          </p:nvPr>
        </p:nvSpPr>
        <p:spPr>
          <a:xfrm>
            <a:off x="311700" y="3286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200">
                <a:solidFill>
                  <a:schemeClr val="dk1"/>
                </a:solidFill>
                <a:highlight>
                  <a:srgbClr val="FFFFFF"/>
                </a:highlight>
              </a:rPr>
              <a:t>FCUP | L. IACD | Large-Scale Data Science | 2025/26</a:t>
            </a:r>
            <a:r>
              <a:rPr lang="pt-PT" sz="7200">
                <a:solidFill>
                  <a:schemeClr val="dk1"/>
                </a:solidFill>
              </a:rPr>
              <a:t> </a:t>
            </a:r>
            <a:endParaRPr sz="7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300"/>
              <a:t>Catarina Fernandes up202307632 | Leonor Baía up202304808 | Pedro Ferreira 202208344</a:t>
            </a:r>
            <a:endParaRPr sz="4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